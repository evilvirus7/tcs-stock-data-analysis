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8848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8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E8"/>
          </a:solidFill>
          <a:ln/>
        </p:spPr>
      </p:sp>
      <p:sp>
        <p:nvSpPr>
          <p:cNvPr id="4" name="Shape 2"/>
          <p:cNvSpPr/>
          <p:nvPr/>
        </p:nvSpPr>
        <p:spPr>
          <a:xfrm>
            <a:off x="-1904695" y="-1904695"/>
            <a:ext cx="5715000" cy="5715000"/>
          </a:xfrm>
          <a:prstGeom prst="ellipse">
            <a:avLst/>
          </a:prstGeom>
          <a:solidFill>
            <a:srgbClr val="B8C5D1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429500" y="2095805"/>
            <a:ext cx="6667805" cy="6667805"/>
          </a:xfrm>
          <a:prstGeom prst="ellipse">
            <a:avLst/>
          </a:prstGeom>
          <a:solidFill>
            <a:srgbClr val="F0E4E6"/>
          </a:solidFill>
          <a:ln/>
        </p:spPr>
      </p:sp>
      <p:sp>
        <p:nvSpPr>
          <p:cNvPr id="6" name="Shape 4"/>
          <p:cNvSpPr/>
          <p:nvPr/>
        </p:nvSpPr>
        <p:spPr>
          <a:xfrm>
            <a:off x="4667098" y="571500"/>
            <a:ext cx="4762195" cy="4762195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95374" y="1954073"/>
            <a:ext cx="983985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Stock Data Analysis – Project Report</a:t>
            </a:r>
            <a:endParaRPr lang="en-US" sz="4500" dirty="0"/>
          </a:p>
        </p:txBody>
      </p:sp>
      <p:sp>
        <p:nvSpPr>
          <p:cNvPr id="9" name="Text 6"/>
          <p:cNvSpPr txBox="1"/>
          <p:nvPr/>
        </p:nvSpPr>
        <p:spPr>
          <a:xfrm>
            <a:off x="4721047" y="3944722"/>
            <a:ext cx="288218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by Pratik </a:t>
            </a:r>
            <a:r>
              <a:rPr lang="en-US" sz="1300" dirty="0" err="1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Sagar|Data</a:t>
            </a:r>
            <a:r>
              <a:rPr lang="en-US" sz="1300" dirty="0">
                <a:solidFill>
                  <a:srgbClr val="5555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Analytics Intern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3625596" y="3392424"/>
            <a:ext cx="51151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 Internship Project Presentation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E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6E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9905" y="1790395"/>
            <a:ext cx="26005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Agenda</a:t>
            </a:r>
            <a:endParaRPr lang="en-US" sz="4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581351"/>
            <a:ext cx="2839212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Stock Data Analysis Project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l="-13" r="-13"/>
          <a:stretch/>
        </p:blipFill>
        <p:spPr>
          <a:xfrm>
            <a:off x="609905" y="3791102"/>
            <a:ext cx="1371600" cy="12188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24705" y="1162202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82896" y="1238098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296205" y="1238098"/>
            <a:ext cx="1705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724705" y="1809598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867351" y="18864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296205" y="1886407"/>
            <a:ext cx="2276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&amp; Methodology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724705" y="2457907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866437" y="253380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5296205" y="2533802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Preparation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4724705" y="3105302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863694" y="318119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296205" y="3181198"/>
            <a:ext cx="1686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EDA: Price Trend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4724705" y="3752698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4868266" y="38295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296205" y="3829507"/>
            <a:ext cx="2067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EDA: Trading Volume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4724705" y="4401007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866437" y="4476902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296205" y="4476902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EDA: Correlation Analysis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724705" y="5048402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4871009" y="51242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5296205" y="5124298"/>
            <a:ext cx="1981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8382305" y="1162202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8524037" y="1238098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8953805" y="1238098"/>
            <a:ext cx="2181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Returns Analysis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382305" y="1809598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8524037" y="1886407"/>
            <a:ext cx="219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953805" y="1886407"/>
            <a:ext cx="1953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382305" y="2457907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8490204" y="2533802"/>
            <a:ext cx="286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8953805" y="2533802"/>
            <a:ext cx="22576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 &amp; Findings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382305" y="3105302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8508492" y="3181198"/>
            <a:ext cx="247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8953805" y="3181198"/>
            <a:ext cx="2572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Scope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8382305" y="3752698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492947" y="3829507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42" name="Text 39"/>
          <p:cNvSpPr txBox="1"/>
          <p:nvPr/>
        </p:nvSpPr>
        <p:spPr>
          <a:xfrm>
            <a:off x="8953805" y="3829507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8382305" y="4401007"/>
            <a:ext cx="381305" cy="381305"/>
          </a:xfrm>
          <a:prstGeom prst="ellipse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4" name="Text 41"/>
          <p:cNvSpPr txBox="1"/>
          <p:nvPr/>
        </p:nvSpPr>
        <p:spPr>
          <a:xfrm>
            <a:off x="8492033" y="4476902"/>
            <a:ext cx="277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45" name="Text 42"/>
          <p:cNvSpPr txBox="1"/>
          <p:nvPr/>
        </p:nvSpPr>
        <p:spPr>
          <a:xfrm>
            <a:off x="8953805" y="4476902"/>
            <a:ext cx="553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Q&amp;A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-1429207" y="-1429207"/>
            <a:ext cx="3810305" cy="3810305"/>
          </a:xfrm>
          <a:prstGeom prst="ellipse">
            <a:avLst/>
          </a:prstGeom>
          <a:solidFill>
            <a:srgbClr val="B8C5D1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0598" y="4953305"/>
            <a:ext cx="3333902" cy="3333902"/>
          </a:xfrm>
          <a:prstGeom prst="ellipse">
            <a:avLst/>
          </a:prstGeom>
          <a:solidFill>
            <a:srgbClr val="D4C5D9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905" y="1047902"/>
            <a:ext cx="4876495" cy="4762195"/>
          </a:xfrm>
          <a:prstGeom prst="roundRect">
            <a:avLst>
              <a:gd name="adj" fmla="val 307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l="15880" r="15880"/>
          <a:stretch/>
        </p:blipFill>
        <p:spPr>
          <a:xfrm>
            <a:off x="609905" y="1047902"/>
            <a:ext cx="4876495" cy="476219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0" y="3440887"/>
            <a:ext cx="342900" cy="3429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5898" y="3535985"/>
            <a:ext cx="152705" cy="1527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0" y="4144975"/>
            <a:ext cx="342900" cy="3429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6486754" y="4240987"/>
            <a:ext cx="171907" cy="152705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6400800" y="4849978"/>
            <a:ext cx="342900" cy="3429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495898" y="4945075"/>
            <a:ext cx="152705" cy="15270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400800" y="865022"/>
            <a:ext cx="4700930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Overview</a:t>
            </a:r>
            <a:endParaRPr lang="en-US" sz="4000" dirty="0"/>
          </a:p>
        </p:txBody>
      </p:sp>
      <p:sp>
        <p:nvSpPr>
          <p:cNvPr id="16" name="Text 9"/>
          <p:cNvSpPr txBox="1"/>
          <p:nvPr/>
        </p:nvSpPr>
        <p:spPr>
          <a:xfrm>
            <a:off x="6400800" y="1716329"/>
            <a:ext cx="5034686" cy="1228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focuses on the comprehensive analysis of Tata Consultancy Services (TCS) stock data. As a key constituent of Indian market indices, understanding TCS's historical performance provides valuable benchmarks for market volatility and long-term growth trends.</a:t>
            </a:r>
            <a:endParaRPr lang="en-US" sz="1300" dirty="0"/>
          </a:p>
        </p:txBody>
      </p:sp>
      <p:sp>
        <p:nvSpPr>
          <p:cNvPr id="17" name="Text 10"/>
          <p:cNvSpPr txBox="1"/>
          <p:nvPr/>
        </p:nvSpPr>
        <p:spPr>
          <a:xfrm>
            <a:off x="6896405" y="3383280"/>
            <a:ext cx="42720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historical stock price behavior and identify meaningful patterns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6896405" y="4088282"/>
            <a:ext cx="46625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 data cleaning, Exploratory Data Analysis (EDA), and validation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6896405" y="4793285"/>
            <a:ext cx="46533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 features and build a basic predictive model for closing prices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E0E3E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904695" y="3047695"/>
            <a:ext cx="5715000" cy="5715000"/>
          </a:xfrm>
          <a:prstGeom prst="roundRect">
            <a:avLst>
              <a:gd name="adj" fmla="val 6400"/>
            </a:avLst>
          </a:prstGeom>
          <a:solidFill>
            <a:srgbClr val="D8E6E2">
              <a:alpha val="3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477" y="1414577"/>
            <a:ext cx="1647749" cy="457200"/>
          </a:xfrm>
          <a:prstGeom prst="rect">
            <a:avLst/>
          </a:prstGeom>
          <a:solidFill>
            <a:srgbClr val="F5E6E8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58568" y="1414577"/>
            <a:ext cx="3295498" cy="457200"/>
          </a:xfrm>
          <a:prstGeom prst="rect">
            <a:avLst/>
          </a:prstGeom>
          <a:solidFill>
            <a:srgbClr val="F5E6E8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47665" y="1414577"/>
            <a:ext cx="6038698" cy="457200"/>
          </a:xfrm>
          <a:prstGeom prst="rect">
            <a:avLst/>
          </a:prstGeom>
          <a:solidFill>
            <a:srgbClr val="F5E6E8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477" y="1867205"/>
            <a:ext cx="1647749" cy="4187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63140" y="1871777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100" b="-1100"/>
          <a:stretch/>
        </p:blipFill>
        <p:spPr>
          <a:xfrm>
            <a:off x="2425903" y="2009851"/>
            <a:ext cx="114300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54503" y="1976018"/>
            <a:ext cx="8814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&amp; Time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547665" y="1867205"/>
            <a:ext cx="6038698" cy="418795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4477" y="2281428"/>
            <a:ext cx="1647749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63140" y="2281428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25903" y="2419502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672791" y="2385670"/>
            <a:ext cx="91988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OHLC Prices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547665" y="2281428"/>
            <a:ext cx="6038698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4477" y="2691079"/>
            <a:ext cx="1647749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63140" y="2691079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2425903" y="2829154"/>
            <a:ext cx="152705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691994" y="2795321"/>
            <a:ext cx="11859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&amp; Events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547665" y="2691079"/>
            <a:ext cx="6038698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4477" y="3100730"/>
            <a:ext cx="1647749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263140" y="3100730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t="-1100" b="-1100"/>
          <a:stretch/>
        </p:blipFill>
        <p:spPr>
          <a:xfrm>
            <a:off x="2425903" y="3238805"/>
            <a:ext cx="114300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654503" y="3204972"/>
            <a:ext cx="14145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Environment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547665" y="3100730"/>
            <a:ext cx="6038698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4477" y="3510382"/>
            <a:ext cx="1647749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263140" y="3510382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1100" b="-1100"/>
          <a:stretch/>
        </p:blipFill>
        <p:spPr>
          <a:xfrm>
            <a:off x="2425903" y="3648456"/>
            <a:ext cx="114300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654503" y="3614623"/>
            <a:ext cx="12051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Pandas &amp; NumPy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5547665" y="3510382"/>
            <a:ext cx="6038698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14477" y="3919118"/>
            <a:ext cx="1647749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263140" y="3919118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425903" y="4058107"/>
            <a:ext cx="133502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672791" y="4024274"/>
            <a:ext cx="145298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Matplotlib &amp; Seaborn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5547665" y="3919118"/>
            <a:ext cx="6038698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14477" y="4328770"/>
            <a:ext cx="1647749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2263140" y="4328770"/>
            <a:ext cx="3286354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425903" y="4466844"/>
            <a:ext cx="133502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2672791" y="4433926"/>
            <a:ext cx="8531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Scikit-learn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5547665" y="4328770"/>
            <a:ext cx="6038698" cy="409651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09905" y="362102"/>
            <a:ext cx="417240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&amp; Methodology</a:t>
            </a:r>
            <a:endParaRPr lang="en-US" sz="2700" dirty="0"/>
          </a:p>
        </p:txBody>
      </p:sp>
      <p:sp>
        <p:nvSpPr>
          <p:cNvPr id="46" name="Text 36"/>
          <p:cNvSpPr txBox="1"/>
          <p:nvPr/>
        </p:nvSpPr>
        <p:spPr>
          <a:xfrm>
            <a:off x="609905" y="866851"/>
            <a:ext cx="680587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financial data attributes and the technical stack employed for analysis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771754" y="1543507"/>
            <a:ext cx="7552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2415845" y="1543507"/>
            <a:ext cx="91714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5704942" y="1543507"/>
            <a:ext cx="151699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 &amp; Usage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771754" y="1993392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5704942" y="1990649"/>
            <a:ext cx="48435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trading records parsed into datetime format for chronological analysis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771754" y="2404872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5704942" y="2404872"/>
            <a:ext cx="4215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Open, High, Low, Close prices capturing daily market movements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771754" y="2814523"/>
            <a:ext cx="5861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5704942" y="2814523"/>
            <a:ext cx="45299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 volume, plus corporate actions like Dividends and Stock Splits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771754" y="3224174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5704942" y="3221431"/>
            <a:ext cx="4187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analysis environment using Jupyter Notebook / VS Code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771754" y="3633826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000" dirty="0"/>
          </a:p>
        </p:txBody>
      </p:sp>
      <p:sp>
        <p:nvSpPr>
          <p:cNvPr id="59" name="Text 49"/>
          <p:cNvSpPr txBox="1"/>
          <p:nvPr/>
        </p:nvSpPr>
        <p:spPr>
          <a:xfrm>
            <a:off x="5704942" y="3631082"/>
            <a:ext cx="47109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cleaning, manipulation, and high-performance numerical operations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771754" y="4043477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5704942" y="4040734"/>
            <a:ext cx="46725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Creation of static visualizations for trends, distributions, and correlations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771754" y="4453128"/>
            <a:ext cx="4434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5704942" y="4450385"/>
            <a:ext cx="39008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Linear Regression for predictive modeling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-1904695" y="4476902"/>
            <a:ext cx="4286707" cy="4286707"/>
          </a:xfrm>
          <a:prstGeom prst="ellipse">
            <a:avLst/>
          </a:prstGeom>
          <a:solidFill>
            <a:srgbClr val="F0E4E6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287000" y="-1429207"/>
            <a:ext cx="3333902" cy="3333902"/>
          </a:xfrm>
          <a:prstGeom prst="ellipse">
            <a:avLst/>
          </a:prstGeom>
          <a:solidFill>
            <a:srgbClr val="D4C5D9">
              <a:alpha val="2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9905" y="2857500"/>
            <a:ext cx="13816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609905" y="3429000"/>
            <a:ext cx="295351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Preparation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8382305" y="609905"/>
            <a:ext cx="9144" cy="563910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Shape 7"/>
          <p:cNvSpPr/>
          <p:nvPr/>
        </p:nvSpPr>
        <p:spPr>
          <a:xfrm>
            <a:off x="8268005" y="1228954"/>
            <a:ext cx="228600" cy="228600"/>
          </a:xfrm>
          <a:prstGeom prst="ellipse">
            <a:avLst/>
          </a:prstGeom>
          <a:solidFill>
            <a:srgbClr val="F5E6E8"/>
          </a:solidFill>
          <a:ln/>
        </p:spPr>
      </p:sp>
      <p:sp>
        <p:nvSpPr>
          <p:cNvPr id="11" name="Shape 8"/>
          <p:cNvSpPr/>
          <p:nvPr/>
        </p:nvSpPr>
        <p:spPr>
          <a:xfrm>
            <a:off x="8268005" y="2467051"/>
            <a:ext cx="228600" cy="228600"/>
          </a:xfrm>
          <a:prstGeom prst="ellipse">
            <a:avLst/>
          </a:prstGeom>
          <a:solidFill>
            <a:srgbClr val="B8C5D1"/>
          </a:solidFill>
          <a:ln/>
        </p:spPr>
      </p:sp>
      <p:sp>
        <p:nvSpPr>
          <p:cNvPr id="12" name="Shape 9"/>
          <p:cNvSpPr/>
          <p:nvPr/>
        </p:nvSpPr>
        <p:spPr>
          <a:xfrm>
            <a:off x="8268005" y="3705149"/>
            <a:ext cx="228600" cy="228600"/>
          </a:xfrm>
          <a:prstGeom prst="ellipse">
            <a:avLst/>
          </a:prstGeom>
          <a:solidFill>
            <a:srgbClr val="E8F0EC"/>
          </a:solidFill>
          <a:ln/>
        </p:spPr>
      </p:sp>
      <p:sp>
        <p:nvSpPr>
          <p:cNvPr id="13" name="Shape 10"/>
          <p:cNvSpPr/>
          <p:nvPr/>
        </p:nvSpPr>
        <p:spPr>
          <a:xfrm>
            <a:off x="8268005" y="4943246"/>
            <a:ext cx="228600" cy="228600"/>
          </a:xfrm>
          <a:prstGeom prst="ellipse">
            <a:avLst/>
          </a:prstGeom>
          <a:solidFill>
            <a:srgbClr val="F5E6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0" y="714146"/>
            <a:ext cx="14529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Parsing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1095451"/>
            <a:ext cx="2953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Converted the Date column to standard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0" y="1324051"/>
            <a:ext cx="33247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datetime format for accurate series analysis.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0" y="2085746"/>
            <a:ext cx="23673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Chronological Sorting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0" y="2467051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Sorted the entire dataset by date to ensure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0" y="2695651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correct sequencing for trend identification.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0" y="3457346"/>
            <a:ext cx="24057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Type Verification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3838651"/>
            <a:ext cx="32004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numerical integrity for Open, High,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6400800" y="4067251"/>
            <a:ext cx="25338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Low, Close, and Volume columns.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400800" y="4828946"/>
            <a:ext cx="2272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 Check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6400800" y="5210251"/>
            <a:ext cx="35149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Performed comprehensive scan for null values;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00800" y="5438851"/>
            <a:ext cx="31345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 were found, ensuring data reliability.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4953305"/>
            <a:ext cx="3333902" cy="3333902"/>
          </a:xfrm>
          <a:prstGeom prst="ellipse">
            <a:avLst/>
          </a:prstGeom>
          <a:solidFill>
            <a:srgbClr val="D4C5D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86707" cy="1904695"/>
          </a:xfrm>
          <a:prstGeom prst="rect">
            <a:avLst/>
          </a:prstGeom>
          <a:solidFill>
            <a:srgbClr val="B8C5D1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905" y="3200400"/>
            <a:ext cx="304495" cy="304495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276295"/>
            <a:ext cx="152705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905" y="3901745"/>
            <a:ext cx="304495" cy="304495"/>
          </a:xfrm>
          <a:prstGeom prst="ellipse">
            <a:avLst/>
          </a:prstGeom>
          <a:solidFill>
            <a:srgbClr val="E8F0E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666598" y="3977640"/>
            <a:ext cx="190195" cy="1527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9905" y="4602175"/>
            <a:ext cx="304495" cy="304495"/>
          </a:xfrm>
          <a:prstGeom prst="ellipse">
            <a:avLst/>
          </a:prstGeom>
          <a:solidFill>
            <a:srgbClr val="D4C5D9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467898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9905" y="599846"/>
            <a:ext cx="3758184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Stock Price Trend Analysis</a:t>
            </a:r>
            <a:endParaRPr lang="en-US" sz="3100" dirty="0"/>
          </a:p>
        </p:txBody>
      </p:sp>
      <p:sp>
        <p:nvSpPr>
          <p:cNvPr id="14" name="Text 8"/>
          <p:cNvSpPr txBox="1"/>
          <p:nvPr/>
        </p:nvSpPr>
        <p:spPr>
          <a:xfrm>
            <a:off x="609905" y="1826971"/>
            <a:ext cx="4967935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historical closing price analysis of TCS reveals a robust growth trajectory, demonstrating market resilience despite periodic economic fluctuations.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1067105" y="3107131"/>
            <a:ext cx="4157777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Upward Trend: Consistent long-term value appreciation over the analyzed period.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067105" y="3808476"/>
            <a:ext cx="435803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Volatility: distinct periods of price fluctuation aligned with major market events.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067105" y="4508906"/>
            <a:ext cx="444398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Recovery: Rapid price rebounds observed immediately following downturns.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6705295" y="1361542"/>
            <a:ext cx="4876495" cy="333390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E8F0E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3113532"/>
            <a:ext cx="152705" cy="1527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780130"/>
            <a:ext cx="152705" cy="152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4971593"/>
            <a:ext cx="38405" cy="990295"/>
          </a:xfrm>
          <a:prstGeom prst="rect">
            <a:avLst/>
          </a:prstGeom>
          <a:solidFill>
            <a:srgbClr val="D4C5D9"/>
          </a:solidFill>
          <a:ln/>
        </p:spPr>
      </p:sp>
      <p:sp>
        <p:nvSpPr>
          <p:cNvPr id="8" name="Shape 4"/>
          <p:cNvSpPr/>
          <p:nvPr/>
        </p:nvSpPr>
        <p:spPr>
          <a:xfrm>
            <a:off x="6705295" y="1524305"/>
            <a:ext cx="4876495" cy="3810305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896405" y="1714500"/>
            <a:ext cx="4496105" cy="3429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9905" y="867766"/>
            <a:ext cx="4338828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 Volume Analysis</a:t>
            </a:r>
            <a:endParaRPr lang="en-US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609905" y="2360981"/>
            <a:ext cx="47009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analysis of trading activity reveals distinct patterns in investor behavior and market participation.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5995" y="3104388"/>
            <a:ext cx="43680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Trading volume exhibits frequent spikes, particularly coinciding with periods of high market volatility.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75995" y="3770986"/>
            <a:ext cx="4548226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Interestingly, high volume does not always correspond to sharp price changes, indicating absorption by large players.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00100" y="4989881"/>
            <a:ext cx="11722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00100" y="5295290"/>
            <a:ext cx="460126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pattern strongly suggests institutional trading activity and significant long-term investor participation rather than purely speculative short-term trading.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E8F0E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609905" y="2651760"/>
            <a:ext cx="190195" cy="1527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3575304"/>
            <a:ext cx="152705" cy="15270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09905" y="4499762"/>
            <a:ext cx="152705" cy="152705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09905" y="5433365"/>
            <a:ext cx="38405" cy="990295"/>
          </a:xfrm>
          <a:prstGeom prst="rect">
            <a:avLst/>
          </a:prstGeom>
          <a:solidFill>
            <a:srgbClr val="D4C5D9"/>
          </a:solidFill>
          <a:ln/>
        </p:spPr>
      </p:sp>
      <p:sp>
        <p:nvSpPr>
          <p:cNvPr id="9" name="Shape 4"/>
          <p:cNvSpPr/>
          <p:nvPr/>
        </p:nvSpPr>
        <p:spPr>
          <a:xfrm>
            <a:off x="6705295" y="1524305"/>
            <a:ext cx="4876495" cy="3810305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0" name="Text 5"/>
          <p:cNvSpPr txBox="1"/>
          <p:nvPr/>
        </p:nvSpPr>
        <p:spPr>
          <a:xfrm>
            <a:off x="609905" y="405994"/>
            <a:ext cx="3205886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Correlation Analysis</a:t>
            </a:r>
            <a:endParaRPr lang="en-US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609905" y="1899209"/>
            <a:ext cx="47868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statistical examination of the relationships between different market variables reveals key financial behaviors.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914400" y="2642616"/>
            <a:ext cx="4348886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Synchrony: Open, High, Low, and Close prices exhibit near-perfect correlation, confirming strong intraday trend consistency.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75995" y="3566160"/>
            <a:ext cx="4348886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Independence: Trading volume shows weak correlation with price, indicating that high activity doesn't always dictate direction.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75995" y="4489704"/>
            <a:ext cx="430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Corporate Actions: Dividends and stock splits show minimal short-term impact on price movements.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800100" y="5452567"/>
            <a:ext cx="1581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 Insight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800100" y="5757062"/>
            <a:ext cx="4506163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strong multicollinearity among price variables is ideal for simple regression models but necessitates caution to avoid overfitting in complex ML algorithms.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879385" y="1913839"/>
            <a:ext cx="355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8650224" y="1913839"/>
            <a:ext cx="3172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00" dirty="0"/>
          </a:p>
        </p:txBody>
      </p:sp>
      <p:sp>
        <p:nvSpPr>
          <p:cNvPr id="19" name="Text 14"/>
          <p:cNvSpPr txBox="1"/>
          <p:nvPr/>
        </p:nvSpPr>
        <p:spPr>
          <a:xfrm>
            <a:off x="9415577" y="1913839"/>
            <a:ext cx="2889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800" dirty="0"/>
          </a:p>
        </p:txBody>
      </p:sp>
      <p:sp>
        <p:nvSpPr>
          <p:cNvPr id="20" name="Text 15"/>
          <p:cNvSpPr txBox="1"/>
          <p:nvPr/>
        </p:nvSpPr>
        <p:spPr>
          <a:xfrm>
            <a:off x="10128809" y="1913839"/>
            <a:ext cx="3739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800" dirty="0"/>
          </a:p>
        </p:txBody>
      </p:sp>
      <p:sp>
        <p:nvSpPr>
          <p:cNvPr id="21" name="Text 16"/>
          <p:cNvSpPr txBox="1"/>
          <p:nvPr/>
        </p:nvSpPr>
        <p:spPr>
          <a:xfrm>
            <a:off x="10944454" y="1913839"/>
            <a:ext cx="241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</a:t>
            </a:r>
            <a:endParaRPr lang="en-US" sz="800" dirty="0"/>
          </a:p>
        </p:txBody>
      </p:sp>
      <p:sp>
        <p:nvSpPr>
          <p:cNvPr id="22" name="Text 17"/>
          <p:cNvSpPr txBox="1"/>
          <p:nvPr/>
        </p:nvSpPr>
        <p:spPr>
          <a:xfrm>
            <a:off x="7126834" y="2488082"/>
            <a:ext cx="355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800" dirty="0"/>
          </a:p>
        </p:txBody>
      </p:sp>
      <p:sp>
        <p:nvSpPr>
          <p:cNvPr id="23" name="Shape 18"/>
          <p:cNvSpPr/>
          <p:nvPr/>
        </p:nvSpPr>
        <p:spPr>
          <a:xfrm>
            <a:off x="7648956" y="2288743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B8C5D1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7904988" y="2480767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8401507" y="2288743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646566" y="2480767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27" name="Shape 22"/>
          <p:cNvSpPr/>
          <p:nvPr/>
        </p:nvSpPr>
        <p:spPr>
          <a:xfrm>
            <a:off x="9153144" y="2288743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9398203" y="2480767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9905695" y="2288743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30" name="Text 25"/>
          <p:cNvSpPr txBox="1"/>
          <p:nvPr/>
        </p:nvSpPr>
        <p:spPr>
          <a:xfrm>
            <a:off x="10150754" y="2480767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10658246" y="2288743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10921594" y="2480767"/>
            <a:ext cx="295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0.15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7145122" y="3063240"/>
            <a:ext cx="3172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800" dirty="0"/>
          </a:p>
        </p:txBody>
      </p:sp>
      <p:sp>
        <p:nvSpPr>
          <p:cNvPr id="34" name="Shape 29"/>
          <p:cNvSpPr/>
          <p:nvPr/>
        </p:nvSpPr>
        <p:spPr>
          <a:xfrm>
            <a:off x="7648956" y="2863901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7894015" y="3055925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8401507" y="2863901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B8C5D1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8657539" y="3055925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9153144" y="2863901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9398203" y="3055925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9905695" y="2863901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41" name="Text 36"/>
          <p:cNvSpPr txBox="1"/>
          <p:nvPr/>
        </p:nvSpPr>
        <p:spPr>
          <a:xfrm>
            <a:off x="10150754" y="3055925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10658246" y="2863901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43" name="Text 38"/>
          <p:cNvSpPr txBox="1"/>
          <p:nvPr/>
        </p:nvSpPr>
        <p:spPr>
          <a:xfrm>
            <a:off x="10920679" y="3055925"/>
            <a:ext cx="295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</a:t>
            </a:r>
            <a:endParaRPr lang="en-US" sz="900" dirty="0"/>
          </a:p>
        </p:txBody>
      </p:sp>
      <p:sp>
        <p:nvSpPr>
          <p:cNvPr id="44" name="Text 39"/>
          <p:cNvSpPr txBox="1"/>
          <p:nvPr/>
        </p:nvSpPr>
        <p:spPr>
          <a:xfrm>
            <a:off x="7157923" y="3637483"/>
            <a:ext cx="28895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800" dirty="0"/>
          </a:p>
        </p:txBody>
      </p:sp>
      <p:sp>
        <p:nvSpPr>
          <p:cNvPr id="45" name="Shape 40"/>
          <p:cNvSpPr/>
          <p:nvPr/>
        </p:nvSpPr>
        <p:spPr>
          <a:xfrm>
            <a:off x="7648956" y="3438144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894015" y="3630168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8401507" y="3438144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8646566" y="3630168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9153144" y="3438144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B8C5D1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9410090" y="3630168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9905695" y="3438144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52" name="Text 47"/>
          <p:cNvSpPr txBox="1"/>
          <p:nvPr/>
        </p:nvSpPr>
        <p:spPr>
          <a:xfrm>
            <a:off x="10150754" y="3630168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53" name="Shape 48"/>
          <p:cNvSpPr/>
          <p:nvPr/>
        </p:nvSpPr>
        <p:spPr>
          <a:xfrm>
            <a:off x="10658246" y="3438144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10920679" y="3630168"/>
            <a:ext cx="295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0.12</a:t>
            </a:r>
            <a:endParaRPr lang="en-US" sz="900" dirty="0"/>
          </a:p>
        </p:txBody>
      </p:sp>
      <p:sp>
        <p:nvSpPr>
          <p:cNvPr id="55" name="Text 50"/>
          <p:cNvSpPr txBox="1"/>
          <p:nvPr/>
        </p:nvSpPr>
        <p:spPr>
          <a:xfrm>
            <a:off x="7118604" y="4212641"/>
            <a:ext cx="37399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800" dirty="0"/>
          </a:p>
        </p:txBody>
      </p:sp>
      <p:sp>
        <p:nvSpPr>
          <p:cNvPr id="56" name="Shape 51"/>
          <p:cNvSpPr/>
          <p:nvPr/>
        </p:nvSpPr>
        <p:spPr>
          <a:xfrm>
            <a:off x="7648956" y="4013302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7894015" y="4205326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58" name="Shape 53"/>
          <p:cNvSpPr/>
          <p:nvPr/>
        </p:nvSpPr>
        <p:spPr>
          <a:xfrm>
            <a:off x="8401507" y="4013302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8646566" y="4205326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60" name="Shape 55"/>
          <p:cNvSpPr/>
          <p:nvPr/>
        </p:nvSpPr>
        <p:spPr>
          <a:xfrm>
            <a:off x="9153144" y="4013302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D4C5D9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9398203" y="4205326"/>
            <a:ext cx="3337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0.99</a:t>
            </a:r>
            <a:endParaRPr lang="en-US" sz="900" dirty="0"/>
          </a:p>
        </p:txBody>
      </p:sp>
      <p:sp>
        <p:nvSpPr>
          <p:cNvPr id="62" name="Shape 57"/>
          <p:cNvSpPr/>
          <p:nvPr/>
        </p:nvSpPr>
        <p:spPr>
          <a:xfrm>
            <a:off x="9905695" y="4013302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B8C5D1"/>
          </a:solidFill>
          <a:ln/>
        </p:spPr>
      </p:sp>
      <p:sp>
        <p:nvSpPr>
          <p:cNvPr id="63" name="Text 58"/>
          <p:cNvSpPr txBox="1"/>
          <p:nvPr/>
        </p:nvSpPr>
        <p:spPr>
          <a:xfrm>
            <a:off x="10162642" y="4205326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10658246" y="4013302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10920679" y="4205326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0.16</a:t>
            </a:r>
            <a:endParaRPr lang="en-US" sz="900" dirty="0"/>
          </a:p>
        </p:txBody>
      </p:sp>
      <p:sp>
        <p:nvSpPr>
          <p:cNvPr id="66" name="Text 61"/>
          <p:cNvSpPr txBox="1"/>
          <p:nvPr/>
        </p:nvSpPr>
        <p:spPr>
          <a:xfrm>
            <a:off x="7181698" y="4786884"/>
            <a:ext cx="241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</a:t>
            </a:r>
            <a:endParaRPr lang="en-US" sz="800" dirty="0"/>
          </a:p>
        </p:txBody>
      </p:sp>
      <p:sp>
        <p:nvSpPr>
          <p:cNvPr id="67" name="Shape 62"/>
          <p:cNvSpPr/>
          <p:nvPr/>
        </p:nvSpPr>
        <p:spPr>
          <a:xfrm>
            <a:off x="7648956" y="4587545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68" name="Text 63"/>
          <p:cNvSpPr txBox="1"/>
          <p:nvPr/>
        </p:nvSpPr>
        <p:spPr>
          <a:xfrm>
            <a:off x="7912303" y="4779569"/>
            <a:ext cx="295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0.15</a:t>
            </a:r>
            <a:endParaRPr lang="en-US" sz="900" dirty="0"/>
          </a:p>
        </p:txBody>
      </p:sp>
      <p:sp>
        <p:nvSpPr>
          <p:cNvPr id="69" name="Shape 64"/>
          <p:cNvSpPr/>
          <p:nvPr/>
        </p:nvSpPr>
        <p:spPr>
          <a:xfrm>
            <a:off x="8401507" y="4587545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70" name="Text 65"/>
          <p:cNvSpPr txBox="1"/>
          <p:nvPr/>
        </p:nvSpPr>
        <p:spPr>
          <a:xfrm>
            <a:off x="8663026" y="4779569"/>
            <a:ext cx="295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0.18</a:t>
            </a:r>
            <a:endParaRPr lang="en-US" sz="900" dirty="0"/>
          </a:p>
        </p:txBody>
      </p:sp>
      <p:sp>
        <p:nvSpPr>
          <p:cNvPr id="71" name="Shape 66"/>
          <p:cNvSpPr/>
          <p:nvPr/>
        </p:nvSpPr>
        <p:spPr>
          <a:xfrm>
            <a:off x="9153144" y="4587545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72" name="Text 67"/>
          <p:cNvSpPr txBox="1"/>
          <p:nvPr/>
        </p:nvSpPr>
        <p:spPr>
          <a:xfrm>
            <a:off x="9415577" y="4779569"/>
            <a:ext cx="2953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0.12</a:t>
            </a:r>
            <a:endParaRPr lang="en-US" sz="900" dirty="0"/>
          </a:p>
        </p:txBody>
      </p:sp>
      <p:sp>
        <p:nvSpPr>
          <p:cNvPr id="73" name="Shape 68"/>
          <p:cNvSpPr/>
          <p:nvPr/>
        </p:nvSpPr>
        <p:spPr>
          <a:xfrm>
            <a:off x="9905695" y="4587545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F5E6E8"/>
          </a:solidFill>
          <a:ln/>
        </p:spPr>
      </p:sp>
      <p:sp>
        <p:nvSpPr>
          <p:cNvPr id="74" name="Text 69"/>
          <p:cNvSpPr txBox="1"/>
          <p:nvPr/>
        </p:nvSpPr>
        <p:spPr>
          <a:xfrm>
            <a:off x="10168128" y="4779569"/>
            <a:ext cx="3054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0.16</a:t>
            </a:r>
            <a:endParaRPr lang="en-US" sz="900" dirty="0"/>
          </a:p>
        </p:txBody>
      </p:sp>
      <p:sp>
        <p:nvSpPr>
          <p:cNvPr id="75" name="Shape 70"/>
          <p:cNvSpPr/>
          <p:nvPr/>
        </p:nvSpPr>
        <p:spPr>
          <a:xfrm>
            <a:off x="10658246" y="4587545"/>
            <a:ext cx="733349" cy="562356"/>
          </a:xfrm>
          <a:prstGeom prst="roundRect">
            <a:avLst>
              <a:gd name="adj" fmla="val 11024"/>
            </a:avLst>
          </a:prstGeom>
          <a:solidFill>
            <a:srgbClr val="B8C5D1"/>
          </a:solidFill>
          <a:ln/>
        </p:spPr>
      </p:sp>
      <p:sp>
        <p:nvSpPr>
          <p:cNvPr id="76" name="Text 71"/>
          <p:cNvSpPr txBox="1"/>
          <p:nvPr/>
        </p:nvSpPr>
        <p:spPr>
          <a:xfrm>
            <a:off x="10915193" y="4779569"/>
            <a:ext cx="3145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0" y="4953305"/>
            <a:ext cx="3333902" cy="3333902"/>
          </a:xfrm>
          <a:prstGeom prst="ellipse">
            <a:avLst/>
          </a:prstGeom>
          <a:solidFill>
            <a:srgbClr val="D4C5D9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4286707" cy="1904695"/>
          </a:xfrm>
          <a:prstGeom prst="rect">
            <a:avLst/>
          </a:prstGeom>
          <a:solidFill>
            <a:srgbClr val="B8C5D1">
              <a:alpha val="15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09905" y="3200400"/>
            <a:ext cx="304495" cy="304495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5800" y="3276295"/>
            <a:ext cx="152705" cy="152705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09905" y="3901745"/>
            <a:ext cx="304495" cy="304495"/>
          </a:xfrm>
          <a:prstGeom prst="ellipse">
            <a:avLst/>
          </a:prstGeom>
          <a:solidFill>
            <a:srgbClr val="E8F0EC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5800" y="3977640"/>
            <a:ext cx="152705" cy="15270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09905" y="4602175"/>
            <a:ext cx="304495" cy="304495"/>
          </a:xfrm>
          <a:prstGeom prst="ellipse">
            <a:avLst/>
          </a:prstGeom>
          <a:solidFill>
            <a:srgbClr val="D4C5D9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85800" y="4678985"/>
            <a:ext cx="152705" cy="15270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09905" y="599846"/>
            <a:ext cx="4368089" cy="9720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Engineering: Moving Averages</a:t>
            </a:r>
            <a:endParaRPr lang="en-US" sz="3100" dirty="0"/>
          </a:p>
        </p:txBody>
      </p:sp>
      <p:sp>
        <p:nvSpPr>
          <p:cNvPr id="14" name="Text 8"/>
          <p:cNvSpPr txBox="1"/>
          <p:nvPr/>
        </p:nvSpPr>
        <p:spPr>
          <a:xfrm>
            <a:off x="609905" y="1826971"/>
            <a:ext cx="4796028" cy="7525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enhance predictive capability, we engineered moving average features. These indicators smooth out daily price noise to reveal the true underlying trend direction.</a:t>
            </a:r>
            <a:endParaRPr lang="en-US" sz="1300" dirty="0"/>
          </a:p>
        </p:txBody>
      </p:sp>
      <p:sp>
        <p:nvSpPr>
          <p:cNvPr id="15" name="Text 9"/>
          <p:cNvSpPr txBox="1"/>
          <p:nvPr/>
        </p:nvSpPr>
        <p:spPr>
          <a:xfrm>
            <a:off x="1067105" y="3107131"/>
            <a:ext cx="4453128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30-Day Moving Average: Captures short-term market sentiment and immediate trend shifts.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1067105" y="3808476"/>
            <a:ext cx="386242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100-Day Moving Average: Identifies long-term structural trends and key support levels.</a:t>
            </a:r>
            <a:endParaRPr lang="en-US" sz="1300" dirty="0"/>
          </a:p>
        </p:txBody>
      </p:sp>
      <p:sp>
        <p:nvSpPr>
          <p:cNvPr id="17" name="Text 11"/>
          <p:cNvSpPr txBox="1"/>
          <p:nvPr/>
        </p:nvSpPr>
        <p:spPr>
          <a:xfrm>
            <a:off x="1067105" y="4508906"/>
            <a:ext cx="4368089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Momentum Signals: Crossovers between these lines provide early indicators of trend reversals.</a:t>
            </a:r>
            <a:endParaRPr lang="en-US" sz="13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t="-5" b="-5"/>
          <a:stretch/>
        </p:blipFill>
        <p:spPr>
          <a:xfrm>
            <a:off x="6705295" y="1361542"/>
            <a:ext cx="4876495" cy="33339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E8F0E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09905" y="3113532"/>
            <a:ext cx="152705" cy="1527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9905" y="4037990"/>
            <a:ext cx="152705" cy="152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5228539"/>
            <a:ext cx="38405" cy="990295"/>
          </a:xfrm>
          <a:prstGeom prst="rect">
            <a:avLst/>
          </a:prstGeom>
          <a:solidFill>
            <a:srgbClr val="D4C5D9"/>
          </a:solidFill>
          <a:ln/>
        </p:spPr>
      </p:sp>
      <p:sp>
        <p:nvSpPr>
          <p:cNvPr id="8" name="Shape 4"/>
          <p:cNvSpPr/>
          <p:nvPr/>
        </p:nvSpPr>
        <p:spPr>
          <a:xfrm>
            <a:off x="6705295" y="1524305"/>
            <a:ext cx="4876495" cy="3810305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896405" y="1714500"/>
            <a:ext cx="4496105" cy="342900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09905" y="610819"/>
            <a:ext cx="3748126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Returns Analysis</a:t>
            </a:r>
            <a:endParaRPr lang="en-US" sz="4000" dirty="0"/>
          </a:p>
        </p:txBody>
      </p:sp>
      <p:sp>
        <p:nvSpPr>
          <p:cNvPr id="11" name="Text 6"/>
          <p:cNvSpPr txBox="1"/>
          <p:nvPr/>
        </p:nvSpPr>
        <p:spPr>
          <a:xfrm>
            <a:off x="609905" y="2104034"/>
            <a:ext cx="4825289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Calculating the daily percentage change in closing price provides a clear picture of the stock's volatility profile and risk distribution.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5995" y="3104388"/>
            <a:ext cx="4614977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distribution is centered around zero, indicating that on most days, the stock price experiences only minor fluctuations.</a:t>
            </a:r>
            <a:endParaRPr lang="en-US" sz="1300" dirty="0"/>
          </a:p>
        </p:txBody>
      </p:sp>
      <p:sp>
        <p:nvSpPr>
          <p:cNvPr id="13" name="Text 8"/>
          <p:cNvSpPr txBox="1"/>
          <p:nvPr/>
        </p:nvSpPr>
        <p:spPr>
          <a:xfrm>
            <a:off x="875995" y="4027932"/>
            <a:ext cx="464423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However, the histogram reveals "fat tails"—instances of extreme positive or negative returns that signify market shocks.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800100" y="5247742"/>
            <a:ext cx="1515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Stability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800100" y="5552237"/>
            <a:ext cx="44961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the central peak suggests general stability, the outliers highlight the presence of periodic high-volatility events that investors must account for in risk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00" cy="6858000"/>
          </a:xfrm>
          <a:prstGeom prst="rect">
            <a:avLst/>
          </a:prstGeom>
          <a:solidFill>
            <a:srgbClr val="E8F0EC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5356" r="-5356"/>
          <a:stretch/>
        </p:blipFill>
        <p:spPr>
          <a:xfrm>
            <a:off x="609905" y="3077870"/>
            <a:ext cx="190195" cy="15270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2275" r="-12275"/>
          <a:stretch/>
        </p:blipFill>
        <p:spPr>
          <a:xfrm>
            <a:off x="609905" y="3647542"/>
            <a:ext cx="190195" cy="15270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9905" y="4407408"/>
            <a:ext cx="4876495" cy="1772107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609905" y="4407408"/>
            <a:ext cx="38405" cy="1772107"/>
          </a:xfrm>
          <a:prstGeom prst="rect">
            <a:avLst/>
          </a:prstGeom>
          <a:solidFill>
            <a:srgbClr val="D4C5D9"/>
          </a:solidFill>
          <a:ln/>
        </p:spPr>
      </p:sp>
      <p:sp>
        <p:nvSpPr>
          <p:cNvPr id="9" name="Shape 5"/>
          <p:cNvSpPr/>
          <p:nvPr/>
        </p:nvSpPr>
        <p:spPr>
          <a:xfrm>
            <a:off x="800100" y="4902098"/>
            <a:ext cx="1162202" cy="276149"/>
          </a:xfrm>
          <a:prstGeom prst="roundRect">
            <a:avLst>
              <a:gd name="adj" fmla="val 182690"/>
            </a:avLst>
          </a:prstGeom>
          <a:solidFill>
            <a:srgbClr val="F5E6E8"/>
          </a:solidFill>
          <a:ln/>
        </p:spPr>
      </p:sp>
      <p:sp>
        <p:nvSpPr>
          <p:cNvPr id="10" name="Shape 6"/>
          <p:cNvSpPr/>
          <p:nvPr/>
        </p:nvSpPr>
        <p:spPr>
          <a:xfrm>
            <a:off x="800100" y="5255057"/>
            <a:ext cx="866851" cy="276149"/>
          </a:xfrm>
          <a:prstGeom prst="roundRect">
            <a:avLst>
              <a:gd name="adj" fmla="val 182690"/>
            </a:avLst>
          </a:prstGeom>
          <a:solidFill>
            <a:srgbClr val="F5E6E8"/>
          </a:solidFill>
          <a:ln/>
        </p:spPr>
      </p:sp>
      <p:sp>
        <p:nvSpPr>
          <p:cNvPr id="11" name="Shape 7"/>
          <p:cNvSpPr/>
          <p:nvPr/>
        </p:nvSpPr>
        <p:spPr>
          <a:xfrm>
            <a:off x="6705295" y="1524305"/>
            <a:ext cx="4876495" cy="3810305"/>
          </a:xfrm>
          <a:prstGeom prst="roundRect">
            <a:avLst>
              <a:gd name="adj" fmla="val 720"/>
            </a:avLst>
          </a:prstGeom>
          <a:solidFill>
            <a:srgbClr val="FFFFFF"/>
          </a:solidFill>
          <a:ln/>
          <a:effectLst>
            <a:outerShdw blurRad="190500" dist="3810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 l="-3" r="-3"/>
          <a:stretch/>
        </p:blipFill>
        <p:spPr>
          <a:xfrm>
            <a:off x="6896405" y="1714500"/>
            <a:ext cx="4496105" cy="34290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09905" y="650138"/>
            <a:ext cx="2929738" cy="1191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Modeling</a:t>
            </a:r>
            <a:endParaRPr lang="en-US" sz="4000" dirty="0"/>
          </a:p>
        </p:txBody>
      </p:sp>
      <p:sp>
        <p:nvSpPr>
          <p:cNvPr id="14" name="Text 9"/>
          <p:cNvSpPr txBox="1"/>
          <p:nvPr/>
        </p:nvSpPr>
        <p:spPr>
          <a:xfrm>
            <a:off x="914400" y="4959706"/>
            <a:ext cx="10341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Score: 0.99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2032711" y="4955134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explanatory power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914400" y="5311750"/>
            <a:ext cx="7388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MSE: Low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1738274" y="5307178"/>
            <a:ext cx="16056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Minimal prediction error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09905" y="2068373"/>
            <a:ext cx="4910328" cy="715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implemented a Linear Regression model to estimate TCS closing prices, utilizing the strong correlation between daily price metrics.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914400" y="3067812"/>
            <a:ext cx="210037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Features (Inputs)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914400" y="3306470"/>
            <a:ext cx="32909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Price, High Price, Low Price, Trading Volume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914400" y="3637483"/>
            <a:ext cx="13862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914400" y="3876142"/>
            <a:ext cx="82478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Price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800100" y="4588459"/>
            <a:ext cx="15581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Evaluation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429207"/>
          </a:xfrm>
          <a:prstGeom prst="rect">
            <a:avLst/>
          </a:prstGeom>
          <a:solidFill>
            <a:srgbClr val="B8C5D1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905195"/>
            <a:ext cx="7315200" cy="952805"/>
          </a:xfrm>
          <a:prstGeom prst="roundRect">
            <a:avLst>
              <a:gd name="adj" fmla="val 95969"/>
            </a:avLst>
          </a:prstGeom>
          <a:solidFill>
            <a:srgbClr val="F5E6E8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33195" y="2703881"/>
            <a:ext cx="9525305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924812" y="2017166"/>
            <a:ext cx="9912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667305" y="2025396"/>
            <a:ext cx="571500" cy="5715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800807" y="2158898"/>
            <a:ext cx="304495" cy="3044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333195" y="3776472"/>
            <a:ext cx="9525305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1818742" y="3089758"/>
            <a:ext cx="1105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Shape 9"/>
          <p:cNvSpPr/>
          <p:nvPr/>
        </p:nvSpPr>
        <p:spPr>
          <a:xfrm>
            <a:off x="2667305" y="3097987"/>
            <a:ext cx="571500" cy="5715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00807" y="3230575"/>
            <a:ext cx="304495" cy="304495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33195" y="4849063"/>
            <a:ext cx="9525305" cy="9144"/>
          </a:xfrm>
          <a:prstGeom prst="rect">
            <a:avLst/>
          </a:prstGeom>
          <a:solidFill>
            <a:srgbClr val="000000">
              <a:alpha val="5000"/>
            </a:srgbClr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1810512" y="4162349"/>
            <a:ext cx="1105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4200" dirty="0"/>
          </a:p>
        </p:txBody>
      </p:sp>
      <p:sp>
        <p:nvSpPr>
          <p:cNvPr id="16" name="Shape 12"/>
          <p:cNvSpPr/>
          <p:nvPr/>
        </p:nvSpPr>
        <p:spPr>
          <a:xfrm>
            <a:off x="2667305" y="4169664"/>
            <a:ext cx="571500" cy="5715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800807" y="4303166"/>
            <a:ext cx="304495" cy="30449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794053" y="5234940"/>
            <a:ext cx="112471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4200" dirty="0"/>
          </a:p>
        </p:txBody>
      </p:sp>
      <p:sp>
        <p:nvSpPr>
          <p:cNvPr id="19" name="Shape 14"/>
          <p:cNvSpPr/>
          <p:nvPr/>
        </p:nvSpPr>
        <p:spPr>
          <a:xfrm>
            <a:off x="2667305" y="5242255"/>
            <a:ext cx="571500" cy="571500"/>
          </a:xfrm>
          <a:prstGeom prst="ellipse">
            <a:avLst/>
          </a:prstGeom>
          <a:solidFill>
            <a:srgbClr val="F5E6E8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90" r="-90"/>
          <a:stretch/>
        </p:blipFill>
        <p:spPr>
          <a:xfrm>
            <a:off x="2762402" y="5375758"/>
            <a:ext cx="381305" cy="30449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826764" y="998525"/>
            <a:ext cx="484357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Insights &amp; Findings</a:t>
            </a:r>
            <a:endParaRPr lang="en-US" sz="3100" dirty="0"/>
          </a:p>
        </p:txBody>
      </p:sp>
      <p:sp>
        <p:nvSpPr>
          <p:cNvPr id="22" name="Text 16"/>
          <p:cNvSpPr txBox="1"/>
          <p:nvPr/>
        </p:nvSpPr>
        <p:spPr>
          <a:xfrm>
            <a:off x="3619195" y="2082089"/>
            <a:ext cx="7196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Long-Term Growth: TCS stock demonstrates a consistent upward trend over the analyzed period, showing resilience and recovery after major market downturns.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3619195" y="3154680"/>
            <a:ext cx="733988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Predictors: Open, High, and Low prices are highly correlated with the Closing price, making them strong predictors for linear regression modeling.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3619195" y="4227271"/>
            <a:ext cx="734903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Reliability: Trading volume shows weak correlation with price changes, indicating it is not a reliable standalone indicator for predicting immediate price movements.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619195" y="5299862"/>
            <a:ext cx="701527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2C2C">
                    <a:alpha val="9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Utility: While simple linear models can explain historical patterns with high accuracy (R²), they do not account for external market volatility or future uncertainty.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8382305" y="-1904695"/>
            <a:ext cx="5715000" cy="5715000"/>
          </a:xfrm>
          <a:prstGeom prst="ellipse">
            <a:avLst/>
          </a:prstGeom>
          <a:solidFill>
            <a:srgbClr val="E0E3E9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904695" y="3047695"/>
            <a:ext cx="5715000" cy="5715000"/>
          </a:xfrm>
          <a:prstGeom prst="roundRect">
            <a:avLst>
              <a:gd name="adj" fmla="val 6400"/>
            </a:avLst>
          </a:prstGeom>
          <a:solidFill>
            <a:srgbClr val="D8E6E2">
              <a:alpha val="3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14477" y="1300277"/>
            <a:ext cx="1647749" cy="457200"/>
          </a:xfrm>
          <a:prstGeom prst="rect">
            <a:avLst/>
          </a:prstGeom>
          <a:solidFill>
            <a:srgbClr val="F5E6E8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58568" y="1300277"/>
            <a:ext cx="2743200" cy="457200"/>
          </a:xfrm>
          <a:prstGeom prst="rect">
            <a:avLst/>
          </a:prstGeom>
          <a:solidFill>
            <a:srgbClr val="F5E6E8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99939" y="1300277"/>
            <a:ext cx="6581851" cy="457200"/>
          </a:xfrm>
          <a:prstGeom prst="rect">
            <a:avLst/>
          </a:prstGeom>
          <a:solidFill>
            <a:srgbClr val="F5E6E8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14477" y="1752905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63140" y="1757477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425903" y="1881835"/>
            <a:ext cx="133502" cy="1335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672791" y="1861718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 Factors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999939" y="1752905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4477" y="2140610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263140" y="2140610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425903" y="2264969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672791" y="2244852"/>
            <a:ext cx="9482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Scope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999939" y="2140610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14477" y="2522830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263140" y="2522830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837" r="-837"/>
          <a:stretch/>
        </p:blipFill>
        <p:spPr>
          <a:xfrm>
            <a:off x="2425903" y="2648102"/>
            <a:ext cx="152705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2691994" y="2627986"/>
            <a:ext cx="9098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Applicability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999939" y="2522830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4477" y="2905963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2263140" y="2905963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rcRect l="-1507" r="-1507"/>
          <a:stretch/>
        </p:blipFill>
        <p:spPr>
          <a:xfrm>
            <a:off x="2425903" y="3031236"/>
            <a:ext cx="171907" cy="13350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2711196" y="3011119"/>
            <a:ext cx="9290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AI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999939" y="2905963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14477" y="3289097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2263140" y="3289097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l="-837" r="-837"/>
          <a:stretch/>
        </p:blipFill>
        <p:spPr>
          <a:xfrm>
            <a:off x="2425903" y="3413455"/>
            <a:ext cx="152705" cy="133502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2691994" y="3394253"/>
            <a:ext cx="1176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Enrichment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999939" y="3289097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14477" y="3672230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2263140" y="3672230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425903" y="3796589"/>
            <a:ext cx="133502" cy="13350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2672791" y="3776472"/>
            <a:ext cx="881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4999939" y="3672230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14477" y="4055364"/>
            <a:ext cx="1647749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1" name="Shape 32"/>
          <p:cNvSpPr/>
          <p:nvPr/>
        </p:nvSpPr>
        <p:spPr>
          <a:xfrm>
            <a:off x="2263140" y="4055364"/>
            <a:ext cx="2734056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2425903" y="4179722"/>
            <a:ext cx="133502" cy="133502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2672791" y="4159606"/>
            <a:ext cx="95737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Analysis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4999939" y="4055364"/>
            <a:ext cx="6581851" cy="390449"/>
          </a:xfrm>
          <a:prstGeom prst="rect">
            <a:avLst/>
          </a:prstGeom>
          <a:solidFill>
            <a:srgbClr val="FFFFFF">
              <a:alpha val="60000"/>
            </a:srgbClr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45" name="Text 35"/>
          <p:cNvSpPr txBox="1"/>
          <p:nvPr/>
        </p:nvSpPr>
        <p:spPr>
          <a:xfrm>
            <a:off x="609905" y="323698"/>
            <a:ext cx="472470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 &amp; Future Scope</a:t>
            </a:r>
            <a:endParaRPr lang="en-US" sz="2700" dirty="0"/>
          </a:p>
        </p:txBody>
      </p:sp>
      <p:sp>
        <p:nvSpPr>
          <p:cNvPr id="46" name="Text 36"/>
          <p:cNvSpPr txBox="1"/>
          <p:nvPr/>
        </p:nvSpPr>
        <p:spPr>
          <a:xfrm>
            <a:off x="609905" y="828446"/>
            <a:ext cx="633953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constraints and potential avenues for extended analytical capabilities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771754" y="1429207"/>
            <a:ext cx="7552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2415845" y="1429207"/>
            <a:ext cx="88879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Area</a:t>
            </a:r>
            <a:endParaRPr lang="en-US" sz="1100" dirty="0"/>
          </a:p>
        </p:txBody>
      </p:sp>
      <p:sp>
        <p:nvSpPr>
          <p:cNvPr id="49" name="Text 39"/>
          <p:cNvSpPr txBox="1"/>
          <p:nvPr/>
        </p:nvSpPr>
        <p:spPr>
          <a:xfrm>
            <a:off x="5156302" y="1429207"/>
            <a:ext cx="90799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50" name="Text 40"/>
          <p:cNvSpPr txBox="1"/>
          <p:nvPr/>
        </p:nvSpPr>
        <p:spPr>
          <a:xfrm>
            <a:off x="771754" y="1859890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5156302" y="1859890"/>
            <a:ext cx="495787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excluded macro indicators, global market news, and sentiment data.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771754" y="2244852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53" name="Text 43"/>
          <p:cNvSpPr txBox="1"/>
          <p:nvPr/>
        </p:nvSpPr>
        <p:spPr>
          <a:xfrm>
            <a:off x="5156302" y="2244852"/>
            <a:ext cx="51014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time-series forecasting (e.g., ARIMA) was not explored in this phase.</a:t>
            </a:r>
            <a:endParaRPr lang="en-US" sz="1000" dirty="0"/>
          </a:p>
        </p:txBody>
      </p:sp>
      <p:sp>
        <p:nvSpPr>
          <p:cNvPr id="54" name="Text 44"/>
          <p:cNvSpPr txBox="1"/>
          <p:nvPr/>
        </p:nvSpPr>
        <p:spPr>
          <a:xfrm>
            <a:off x="771754" y="2627986"/>
            <a:ext cx="7196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</a:t>
            </a:r>
            <a:endParaRPr lang="en-US" sz="1000" dirty="0"/>
          </a:p>
        </p:txBody>
      </p:sp>
      <p:sp>
        <p:nvSpPr>
          <p:cNvPr id="55" name="Text 45"/>
          <p:cNvSpPr txBox="1"/>
          <p:nvPr/>
        </p:nvSpPr>
        <p:spPr>
          <a:xfrm>
            <a:off x="5156302" y="2627986"/>
            <a:ext cx="511972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Predictive models are for educational purposes, not real-time trading decisions.</a:t>
            </a:r>
            <a:endParaRPr lang="en-US" sz="1000" dirty="0"/>
          </a:p>
        </p:txBody>
      </p:sp>
      <p:sp>
        <p:nvSpPr>
          <p:cNvPr id="56" name="Text 46"/>
          <p:cNvSpPr txBox="1"/>
          <p:nvPr/>
        </p:nvSpPr>
        <p:spPr>
          <a:xfrm>
            <a:off x="771754" y="3011119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5156302" y="3011119"/>
            <a:ext cx="519653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of ARIMA and LSTM networks for robust time-series forecasting.</a:t>
            </a:r>
            <a:endParaRPr lang="en-US" sz="1000" dirty="0"/>
          </a:p>
        </p:txBody>
      </p:sp>
      <p:sp>
        <p:nvSpPr>
          <p:cNvPr id="58" name="Text 48"/>
          <p:cNvSpPr txBox="1"/>
          <p:nvPr/>
        </p:nvSpPr>
        <p:spPr>
          <a:xfrm>
            <a:off x="771754" y="3394253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59" name="Text 49"/>
          <p:cNvSpPr txBox="1"/>
          <p:nvPr/>
        </p:nvSpPr>
        <p:spPr>
          <a:xfrm>
            <a:off x="5156302" y="3394253"/>
            <a:ext cx="545348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Incorporation of external financial indicators, competitor data, and economic indices.</a:t>
            </a:r>
            <a:endParaRPr lang="en-US" sz="1000" dirty="0"/>
          </a:p>
        </p:txBody>
      </p:sp>
      <p:sp>
        <p:nvSpPr>
          <p:cNvPr id="60" name="Text 50"/>
          <p:cNvSpPr txBox="1"/>
          <p:nvPr/>
        </p:nvSpPr>
        <p:spPr>
          <a:xfrm>
            <a:off x="771754" y="3776472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61" name="Text 51"/>
          <p:cNvSpPr txBox="1"/>
          <p:nvPr/>
        </p:nvSpPr>
        <p:spPr>
          <a:xfrm>
            <a:off x="5156302" y="3776472"/>
            <a:ext cx="53583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of interactive dashboards using Power BI or Tableau for stakeholders.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771754" y="4159606"/>
            <a:ext cx="94823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63" name="Text 53"/>
          <p:cNvSpPr txBox="1"/>
          <p:nvPr/>
        </p:nvSpPr>
        <p:spPr>
          <a:xfrm>
            <a:off x="5156302" y="4159606"/>
            <a:ext cx="49295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into volatility metrics, Value at Risk (VaR), and drawdown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-1429207" y="3524098"/>
            <a:ext cx="5238598" cy="5238598"/>
          </a:xfrm>
          <a:prstGeom prst="ellipse">
            <a:avLst/>
          </a:prstGeom>
          <a:solidFill>
            <a:srgbClr val="FEF2E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0598" y="-1429207"/>
            <a:ext cx="3810305" cy="3810305"/>
          </a:xfrm>
          <a:prstGeom prst="ellipse">
            <a:avLst/>
          </a:prstGeom>
          <a:solidFill>
            <a:srgbClr val="D9E9E8">
              <a:alpha val="70000"/>
            </a:srgbClr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2805" y="1398118"/>
            <a:ext cx="8601761" cy="3543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project successfully demonstrates a complete end-to-end data analytics workflow—encompassing data cleaning, advanced visualization, analytical thinking, and predictive modeling."</a:t>
            </a:r>
            <a:endParaRPr lang="en-US" sz="3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6"/>
          </a:solidFill>
          <a:ln/>
        </p:spPr>
      </p:sp>
      <p:sp>
        <p:nvSpPr>
          <p:cNvPr id="4" name="Shape 2"/>
          <p:cNvSpPr/>
          <p:nvPr/>
        </p:nvSpPr>
        <p:spPr>
          <a:xfrm>
            <a:off x="-2381098" y="-952805"/>
            <a:ext cx="7619695" cy="7619695"/>
          </a:xfrm>
          <a:prstGeom prst="ellipse">
            <a:avLst/>
          </a:prstGeom>
          <a:solidFill>
            <a:srgbClr val="F5E6E8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810598" y="3524098"/>
            <a:ext cx="4762195" cy="4762195"/>
          </a:xfrm>
          <a:prstGeom prst="roundRect">
            <a:avLst>
              <a:gd name="adj" fmla="val 7680"/>
            </a:avLst>
          </a:prstGeom>
          <a:solidFill>
            <a:srgbClr val="F5E6E8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848356" y="190195"/>
            <a:ext cx="9144" cy="5715000"/>
          </a:xfrm>
          <a:prstGeom prst="rect">
            <a:avLst/>
          </a:prstGeom>
          <a:solidFill>
            <a:srgbClr val="D4C5D9">
              <a:alpha val="3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334195" y="952805"/>
            <a:ext cx="9144" cy="5715000"/>
          </a:xfrm>
          <a:prstGeom prst="rect">
            <a:avLst/>
          </a:prstGeom>
          <a:solidFill>
            <a:srgbClr val="B8C5D1">
              <a:alpha val="3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2622" y="1162202"/>
            <a:ext cx="35817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500" b="1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You!</a:t>
            </a:r>
            <a:endParaRPr lang="en-US" sz="4500" dirty="0"/>
          </a:p>
        </p:txBody>
      </p:sp>
      <p:sp>
        <p:nvSpPr>
          <p:cNvPr id="10" name="Text 8"/>
          <p:cNvSpPr txBox="1"/>
          <p:nvPr/>
        </p:nvSpPr>
        <p:spPr>
          <a:xfrm>
            <a:off x="4317797" y="2038198"/>
            <a:ext cx="37060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TCS Stock Data Analysis Project Report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2745028" y="2656788"/>
            <a:ext cx="67016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I’m happy to walk through the Jupyter notebook and modeling details on request.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1142</Words>
  <Application>Microsoft Office PowerPoint</Application>
  <PresentationFormat>Widescreen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Bindas Pratik</cp:lastModifiedBy>
  <cp:revision>4</cp:revision>
  <dcterms:created xsi:type="dcterms:W3CDTF">2026-01-10T15:50:58Z</dcterms:created>
  <dcterms:modified xsi:type="dcterms:W3CDTF">2026-01-11T14:08:35Z</dcterms:modified>
</cp:coreProperties>
</file>